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CVR</c:v>
                </c:pt>
              </c:strCache>
            </c:strRef>
          </c:tx>
          <c:spPr>
            <a:solidFill>
              <a:srgbClr val="F227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27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27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27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1F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EXTERNAL_LOGIN</c:v>
                  </c:pt>
                  <c:pt idx="1">
                    <c:v>EXTERNAL_HEADER</c:v>
                  </c:pt>
                  <c:pt idx="2">
                    <c:v>EXTERNAL_CONFIG</c:v>
                  </c:pt>
                  <c:pt idx="3">
                    <c:v>INAPP_DEFAULT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10.68</c:v>
                </c:pt>
                <c:pt idx="1">
                  <c:v>11.6</c:v>
                </c:pt>
                <c:pt idx="2">
                  <c:v>11.81</c:v>
                </c:pt>
                <c:pt idx="3">
                  <c:v>12.84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.5"/>
          <c:min val="9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F2275E">
              <a:alpha val="12000"/>
            </a:srgbClr>
          </a:solidFill>
          <a:ln w="12700">
            <a:solidFill>
              <a:srgbClr val="F2275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731520"/>
            <a:ext cx="2743200" cy="2743200"/>
          </a:xfrm>
          <a:prstGeom prst="ellipse">
            <a:avLst/>
          </a:prstGeom>
          <a:solidFill>
            <a:srgbClr val="F2275E">
              <a:alpha val="25000"/>
            </a:srgbClr>
          </a:solidFill>
          <a:ln w="12700">
            <a:solidFill>
              <a:srgbClr val="F2275E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914400" cy="54864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37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Técnico: Análise de Experimentos In-App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Estratégia de Atribuição.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Maio,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4800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realizamos este experimento?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960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In-App Browser é a espinha dorsal do nosso modelo de cashback.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475488" cy="475488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184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5727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Tracking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1810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dos parâmetros UTM e mz_* em toda a jornada de compra.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2514600"/>
            <a:ext cx="475488" cy="475488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5786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Atribuição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87552" y="2770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 o comissionamento junto ao parceiro e o repasse do cashback.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" y="3474720"/>
            <a:ext cx="475488" cy="475488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5387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34930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87552" y="3730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quebras de fluxo, redirects inesperados e perdas de sessão.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914400"/>
            <a:ext cx="109728" cy="393192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9204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Teste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9204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não têm sessões ativas, senhas salvas ou dados de pagamento preenchidos dentro do WebView — ao contrário de seus navegadores padrão (Chrome, Safari).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9204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fricção pode levar ao abandono.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92040" y="2926080"/>
            <a:ext cx="3749040" cy="45720"/>
          </a:xfrm>
          <a:prstGeom prst="rect">
            <a:avLst/>
          </a:prstGeom>
          <a:solidFill>
            <a:srgbClr val="F2275E">
              <a:alpha val="50000"/>
            </a:srgbClr>
          </a:solidFill>
          <a:ln w="12700">
            <a:solidFill>
              <a:srgbClr val="F2275E">
                <a:alpha val="5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9204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central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92040" y="34290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fluida (saída externa) vs. Perda de sinal de dados e fuga do comissionamento.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89204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experimento foi desenhado para quantificar esse trade-off.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testamos — Design Experimental A/B/C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2743200" cy="6400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307592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07592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INAPP_DEFAULT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padrão 100% In-App. Máximo controle de tracking e atribuição.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114800"/>
            <a:ext cx="2651760" cy="749808"/>
          </a:xfrm>
          <a:prstGeom prst="rect">
            <a:avLst/>
          </a:prstGeom>
          <a:solidFill>
            <a:srgbClr val="1A1F4E">
              <a:alpha val="10000"/>
            </a:srgbClr>
          </a:solidFill>
          <a:ln w="12700">
            <a:solidFill>
              <a:srgbClr val="1A1F4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60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A fricção de UX é custo aceitável para preservar a atribuição.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93268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932688"/>
            <a:ext cx="2743200" cy="64008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9476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1307592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1307592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91840" y="16916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91840" y="1920240"/>
            <a:ext cx="2468880" cy="2743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INAPP_DEFAULT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258568"/>
            <a:ext cx="2468880" cy="274320"/>
          </a:xfrm>
          <a:prstGeom prst="rect">
            <a:avLst/>
          </a:prstGeom>
          <a:solidFill>
            <a:srgbClr val="F2275E">
              <a:alpha val="15000"/>
            </a:srgbClr>
          </a:solidFill>
          <a:ln w="12700">
            <a:solidFill>
              <a:srgbClr val="F2275E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EXTERNAL_HEADER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596896"/>
            <a:ext cx="2468880" cy="274320"/>
          </a:xfrm>
          <a:prstGeom prst="rect">
            <a:avLst/>
          </a:prstGeom>
          <a:solidFill>
            <a:srgbClr val="F2275E">
              <a:alpha val="15000"/>
            </a:srgbClr>
          </a:solidFill>
          <a:ln w="12700">
            <a:solidFill>
              <a:srgbClr val="F2275E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EXTERNAL_LOGIN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0083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proeminente no cabeçalho + escape no fluxo de login.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114800"/>
            <a:ext cx="2651760" cy="749808"/>
          </a:xfrm>
          <a:prstGeom prst="rect">
            <a:avLst/>
          </a:prstGeom>
          <a:solidFill>
            <a:srgbClr val="F2275E">
              <a:alpha val="10000"/>
            </a:srgbClr>
          </a:solidFill>
          <a:ln w="12700">
            <a:solidFill>
              <a:srgbClr val="F2275E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160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Compras desbloqueadas superam a perda de atribuição.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93268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932688"/>
            <a:ext cx="2743200" cy="640080"/>
          </a:xfrm>
          <a:prstGeom prst="rect">
            <a:avLst/>
          </a:prstGeom>
          <a:solidFill>
            <a:srgbClr val="00B386"/>
          </a:solidFill>
          <a:ln w="12700">
            <a:solidFill>
              <a:srgbClr val="00B3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67512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75120" y="1307592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307592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72200" y="16916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72200" y="1920240"/>
            <a:ext cx="2468880" cy="2743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INAPP_DEFAULT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2258568"/>
            <a:ext cx="2468880" cy="274320"/>
          </a:xfrm>
          <a:prstGeom prst="rect">
            <a:avLst/>
          </a:prstGeom>
          <a:solidFill>
            <a:srgbClr val="00B386">
              <a:alpha val="15000"/>
            </a:srgbClr>
          </a:solidFill>
          <a:ln w="12700">
            <a:solidFill>
              <a:srgbClr val="00B386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EXTERNAL_CONFIG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2596896"/>
            <a:ext cx="2468880" cy="274320"/>
          </a:xfrm>
          <a:prstGeom prst="rect">
            <a:avLst/>
          </a:prstGeom>
          <a:solidFill>
            <a:srgbClr val="00B386">
              <a:alpha val="15000"/>
            </a:srgbClr>
          </a:solidFill>
          <a:ln w="12700">
            <a:solidFill>
              <a:srgbClr val="00B386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EXTERNAL_LOGIN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30083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discreta no menu + escape no fluxo de login.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80760" y="4114800"/>
            <a:ext cx="2651760" cy="749808"/>
          </a:xfrm>
          <a:prstGeom prst="rect">
            <a:avLst/>
          </a:prstGeom>
          <a:solidFill>
            <a:srgbClr val="00B386">
              <a:alpha val="10000"/>
            </a:srgbClr>
          </a:solidFill>
          <a:ln w="12700">
            <a:solidFill>
              <a:srgbClr val="00B386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160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"Válvula de escape" para power users com risco controlado.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Performance e Decisão Final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  <a:gridCol w="164592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Versão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Decisão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Impacto na CVR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CPV (Comissão/Visita)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Racional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Controle (A)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386"/>
                          </a:solidFill>
                        </a:rPr>
                        <a:t>MANTER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12,87%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R$ 5,56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Máxima rastreabilidade.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Header (B)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275E"/>
                          </a:solidFill>
                        </a:rPr>
                        <a:t>REJEITAR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275E"/>
                          </a:solidFill>
                        </a:rPr>
                        <a:t>12,61% (-2,03%)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275E"/>
                          </a:solidFill>
                        </a:rPr>
                        <a:t>R$ 5,22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Queda estatisticamente significativa.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Config (C)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NÃO PRIORIZAR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12,73% (-1,05%)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R$ 5,50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Ganho imaterial (p-value &gt; 0,05).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4048" y="3291840"/>
            <a:ext cx="8412480" cy="914400"/>
          </a:xfrm>
          <a:prstGeom prst="rect">
            <a:avLst/>
          </a:prstGeom>
          <a:solidFill>
            <a:srgbClr val="FDE8EE"/>
          </a:solidFill>
          <a:ln w="12700">
            <a:solidFill>
              <a:srgbClr val="F2275E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45643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33375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Manter a Versão A. As variantes alternativas degradam a capacidade de mensuração do negócio.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" y="4343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CPV = Soma das comissões esperadas / Volume total de visitas. Impacto anual estimado em R$ 4,2M de perda na variante B.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Forte Evidência de Tracking Loss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vs. Atribuição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dos fluxos EXTERNAL_HEADER e EXTERNAL_LOGIN revelou uma distorção analítica importante: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 que escolhem sair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possuem alta intenção de compra.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94560"/>
            <a:ext cx="91440" cy="91440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963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perfil,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deveriam converter acima da baseline.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606040"/>
            <a:ext cx="91440" cy="91440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do Dado: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Registramos conversão mensurada inferior em ambiente externo.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017520"/>
            <a:ext cx="91440" cy="91440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3101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O tracking loss e a quebra de parâmetros em navegadores de terceiros explicam a parte mais relevante da queda observada na CVR.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POR FLUXO DE SAÍDA MENSURADO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754880" y="13258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2: Seamless Authentication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causa raiz, não o sintoma.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da 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saídas pelo fluxo de login prova que a fricção de autenticação é o principal gargalo de conversão real.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causa raiz da fricção (autenticação) dentro do ambiente controlado, eliminando a necessidade de saída.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246120"/>
            <a:ext cx="4023360" cy="868680"/>
          </a:xfrm>
          <a:prstGeom prst="rect">
            <a:avLst/>
          </a:prstGeom>
          <a:solidFill>
            <a:srgbClr val="E6F7F3"/>
          </a:solidFill>
          <a:ln w="12700">
            <a:solidFill>
              <a:srgbClr val="00B386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37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 Estimado: Recuperação potencial de até R$ 4,2M anuais ao mitigar as perdas de tracking.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109728" cy="393192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Proposta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4447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iOS Keychain e Android Autofill diretamente no ecossistema WebView do App.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313432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2240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biometria nativa para autopreenchimento seguro.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770632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2697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Maximização da preservação e persistência de dados.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227832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e continuidade analítica da esteira de receita.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PRD: Especificações e Guardrails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Especificação MVP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Critério de Sucesso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Instrumentação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Evento inapp_auth_autofill_triggered com propriedades os e partner_id.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Zero perda de eventos de visita.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Experimento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Teste A/B randomizado por user_id (Alocação 50/50).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Uplift &gt; 2% no CPV.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Guardrails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Taxa de Crash do App e Latência de carregamento do WebView (P75).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Impacto &lt; 0,5% na estabilidade.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84048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Rollout: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91640" y="3703320"/>
            <a:ext cx="1463040" cy="6400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(Monitoramento)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546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20440" y="3703320"/>
            <a:ext cx="1463040" cy="640080"/>
          </a:xfrm>
          <a:prstGeom prst="rect">
            <a:avLst/>
          </a:prstGeom>
          <a:solidFill>
            <a:srgbClr val="252B5C"/>
          </a:solidFill>
          <a:ln w="12700">
            <a:solidFill>
              <a:srgbClr val="252B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49240" y="3703320"/>
            <a:ext cx="1463040" cy="64008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78040" y="3703320"/>
            <a:ext cx="1463040" cy="640080"/>
          </a:xfrm>
          <a:prstGeom prst="rect">
            <a:avLst/>
          </a:prstGeom>
          <a:solidFill>
            <a:srgbClr val="00B386"/>
          </a:solidFill>
          <a:ln w="12700">
            <a:solidFill>
              <a:srgbClr val="00B38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sig. estatística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01168"/>
            <a:ext cx="64008" cy="59436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com Engenharia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Tasks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822960" cy="4572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916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textContentType (iOS) e autofillHints (Android) no WebView.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286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lógica de Feature Flag mz_test_seamlessauth.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0632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971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de payloads JSON para a camada de Analytics.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Validação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389888"/>
            <a:ext cx="822960" cy="45720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916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600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via Charles Proxy para validar parâmetros mz_* em URLs de redirect.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286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regressão em 5 principais categorias de parceiros.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109728" cy="109728"/>
          </a:xfrm>
          <a:prstGeom prst="ellipse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971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persistência da alocação entre sessões.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1005840"/>
            <a:ext cx="27432" cy="2926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709160"/>
            <a:ext cx="9144000" cy="4572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Este framework reduz o tempo de análise de 10 dias para 48h via automação da camada de processamento (Python) e governança analítica orientada por IA.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275E"/>
          </a:solidFill>
          <a:ln w="12700">
            <a:solidFill>
              <a:srgbClr val="F227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modelos de negócio baseados em comissionamento,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otimizações de UX não podem invalidar a captura de dados.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estratégia resolve a fricção do usuário gerando valor real de negócio.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8221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 de atribuição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754880" y="38221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estimado no CPV com Seamless Auth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3017520"/>
            <a:ext cx="27432" cy="118872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2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 SHOPPING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Méliuz Shopping — In-App Browser Experiment</dc:title>
  <dc:subject>PptxGenJS Presentation</dc:subject>
  <dc:creator>PptxGenJS</dc:creator>
  <cp:lastModifiedBy>PptxGenJS</cp:lastModifiedBy>
  <cp:revision>1</cp:revision>
  <dcterms:created xsi:type="dcterms:W3CDTF">2026-05-19T20:10:59Z</dcterms:created>
  <dcterms:modified xsi:type="dcterms:W3CDTF">2026-05-19T20:10:59Z</dcterms:modified>
</cp:coreProperties>
</file>